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 spc="300">
                <a:solidFill>
                  <a:srgbClr val="E0584B"/>
                </a:solidFill>
                <a:latin typeface="DM Sans"/>
              </a:rPr>
              <a:t>CARETE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5F6F8"/>
                </a:solidFill>
                <a:latin typeface="DM Sans"/>
              </a:rPr>
              <a:t>Care Coordination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1188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D7DEE8"/>
                </a:solidFill>
                <a:latin typeface="DM Sans"/>
              </a:rPr>
              <a:t>From the screening finding that starts a referral to the paid claim that closes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8793A4"/>
                </a:solidFill>
                <a:latin typeface="DM Sans"/>
              </a:rPr>
              <a:t>Internal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400" b="1" i="0">
                <a:solidFill>
                  <a:srgbClr val="15213A"/>
                </a:solidFill>
                <a:latin typeface="DM Sans"/>
              </a:rPr>
              <a:t>What This Walkthrough Covers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34015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39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 spc="200">
                <a:solidFill>
                  <a:srgbClr val="E0584B"/>
                </a:solidFill>
                <a:latin typeface="DM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19"/>
            <a:ext cx="2761488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15213A"/>
                </a:solidFill>
                <a:latin typeface="DM Sans"/>
              </a:rPr>
              <a:t>The Full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59"/>
            <a:ext cx="2761488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C4656"/>
                </a:solidFill>
                <a:latin typeface="DM Sans"/>
              </a:rPr>
              <a:t>Seven stages, Screen through Close, that every member’s care moves through.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874519"/>
            <a:ext cx="34015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2148839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 spc="200">
                <a:solidFill>
                  <a:srgbClr val="E0584B"/>
                </a:solidFill>
                <a:latin typeface="DM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560319"/>
            <a:ext cx="2761488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15213A"/>
                </a:solidFill>
                <a:latin typeface="DM Sans"/>
              </a:rPr>
              <a:t>Where Referrals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3108959"/>
            <a:ext cx="2761488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C4656"/>
                </a:solidFill>
                <a:latin typeface="DM Sans"/>
              </a:rPr>
              <a:t>One referral record carries Refer all the way through to Close.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874519"/>
            <a:ext cx="34015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2148839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 spc="200">
                <a:solidFill>
                  <a:srgbClr val="E0584B"/>
                </a:solidFill>
                <a:latin typeface="DM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9056" y="2560319"/>
            <a:ext cx="2761488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15213A"/>
                </a:solidFill>
                <a:latin typeface="DM Sans"/>
              </a:rPr>
              <a:t>How Closing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6" y="3108959"/>
            <a:ext cx="2761488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C4656"/>
                </a:solidFill>
                <a:latin typeface="DM Sans"/>
              </a:rPr>
              <a:t>A referral closes itself the moment its claim is marked paid.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9AA3B2"/>
                </a:solidFill>
                <a:latin typeface="DM Sans"/>
              </a:rPr>
              <a:t>Carete · Care Coordination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400" b="1" i="0">
                <a:solidFill>
                  <a:srgbClr val="15213A"/>
                </a:solidFill>
                <a:latin typeface="DM Sans"/>
              </a:rPr>
              <a:t>The Seven-Stage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951" y="1920240"/>
            <a:ext cx="1298448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951" y="2084832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 spc="100">
                <a:solidFill>
                  <a:srgbClr val="9AA3B2"/>
                </a:solidFill>
                <a:latin typeface="DM Sans"/>
              </a:rPr>
              <a:t>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" y="2578608"/>
            <a:ext cx="1207008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5213A"/>
                </a:solidFill>
                <a:latin typeface="DM Sans"/>
              </a:rPr>
              <a:t>Screen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78127" y="2487168"/>
            <a:ext cx="274320" cy="164592"/>
          </a:xfrm>
          <a:prstGeom prst="rightArrow">
            <a:avLst/>
          </a:prstGeom>
          <a:solidFill>
            <a:srgbClr val="E05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62175" y="1920240"/>
            <a:ext cx="1298448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2175" y="2084832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 spc="100">
                <a:solidFill>
                  <a:srgbClr val="9AA3B2"/>
                </a:solidFill>
                <a:latin typeface="DM Sans"/>
              </a:rP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7895" y="2578608"/>
            <a:ext cx="1207008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5213A"/>
                </a:solidFill>
                <a:latin typeface="DM Sans"/>
              </a:rPr>
              <a:t>Refer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70351" y="2487168"/>
            <a:ext cx="274320" cy="164592"/>
          </a:xfrm>
          <a:prstGeom prst="rightArrow">
            <a:avLst/>
          </a:prstGeom>
          <a:solidFill>
            <a:srgbClr val="E05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4399" y="1920240"/>
            <a:ext cx="1298448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4399" y="2084832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 spc="100">
                <a:solidFill>
                  <a:srgbClr val="9AA3B2"/>
                </a:solidFill>
                <a:latin typeface="DM Sans"/>
              </a:rPr>
              <a:t>STAGE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0119" y="2578608"/>
            <a:ext cx="1207008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5213A"/>
                </a:solidFill>
                <a:latin typeface="DM Sans"/>
              </a:rPr>
              <a:t>Route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62575" y="2487168"/>
            <a:ext cx="274320" cy="164592"/>
          </a:xfrm>
          <a:prstGeom prst="rightArrow">
            <a:avLst/>
          </a:prstGeom>
          <a:solidFill>
            <a:srgbClr val="E05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46623" y="1920240"/>
            <a:ext cx="1298448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6623" y="2084832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 spc="100">
                <a:solidFill>
                  <a:srgbClr val="9AA3B2"/>
                </a:solidFill>
                <a:latin typeface="DM Sans"/>
              </a:rPr>
              <a:t>STAGE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2343" y="2578608"/>
            <a:ext cx="1207008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5213A"/>
                </a:solidFill>
                <a:latin typeface="DM Sans"/>
              </a:rPr>
              <a:t>Verify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54799" y="2487168"/>
            <a:ext cx="274320" cy="164592"/>
          </a:xfrm>
          <a:prstGeom prst="rightArrow">
            <a:avLst/>
          </a:prstGeom>
          <a:solidFill>
            <a:srgbClr val="E05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38847" y="1920240"/>
            <a:ext cx="1298448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8847" y="2084832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 spc="100">
                <a:solidFill>
                  <a:srgbClr val="9AA3B2"/>
                </a:solidFill>
                <a:latin typeface="DM Sans"/>
              </a:rPr>
              <a:t>STAGE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4567" y="2578608"/>
            <a:ext cx="1207008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5213A"/>
                </a:solidFill>
                <a:latin typeface="DM Sans"/>
              </a:rPr>
              <a:t>Deliver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47023" y="2487168"/>
            <a:ext cx="274320" cy="164592"/>
          </a:xfrm>
          <a:prstGeom prst="rightArrow">
            <a:avLst/>
          </a:prstGeom>
          <a:solidFill>
            <a:srgbClr val="E05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31071" y="1920240"/>
            <a:ext cx="1298448" cy="1298448"/>
          </a:xfrm>
          <a:prstGeom prst="roundRect">
            <a:avLst>
              <a:gd name="adj" fmla="val 14000"/>
            </a:avLst>
          </a:prstGeom>
          <a:solidFill>
            <a:srgbClr val="FDEBE8"/>
          </a:solidFill>
          <a:ln w="12700">
            <a:solidFill>
              <a:srgbClr val="F3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1071" y="2084832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 spc="100">
                <a:solidFill>
                  <a:srgbClr val="B83D30"/>
                </a:solidFill>
                <a:latin typeface="DM Sans"/>
              </a:rPr>
              <a:t>STAGE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6791" y="2578608"/>
            <a:ext cx="1207008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B83D30"/>
                </a:solidFill>
                <a:latin typeface="DM Sans"/>
              </a:rPr>
              <a:t>Claim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439247" y="2487168"/>
            <a:ext cx="274320" cy="164592"/>
          </a:xfrm>
          <a:prstGeom prst="rightArrow">
            <a:avLst/>
          </a:prstGeom>
          <a:solidFill>
            <a:srgbClr val="E05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823295" y="1920240"/>
            <a:ext cx="1298448" cy="1298448"/>
          </a:xfrm>
          <a:prstGeom prst="roundRect">
            <a:avLst>
              <a:gd name="adj" fmla="val 14000"/>
            </a:avLst>
          </a:prstGeom>
          <a:solidFill>
            <a:srgbClr val="E3F3E7"/>
          </a:solidFill>
          <a:ln w="12700">
            <a:solidFill>
              <a:srgbClr val="C4E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23295" y="2084832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 spc="100">
                <a:solidFill>
                  <a:srgbClr val="1F7A3D"/>
                </a:solidFill>
                <a:latin typeface="DM Sans"/>
              </a:rPr>
              <a:t>STAGE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69015" y="2578608"/>
            <a:ext cx="1207008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F7A3D"/>
                </a:solidFill>
                <a:latin typeface="DM Sans"/>
              </a:rPr>
              <a:t>Close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749039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C4656"/>
                </a:solidFill>
                <a:latin typeface="DM Sans"/>
              </a:rPr>
              <a:t>Verify, Deliver, Claim, and Close are tracked through a single referral record in the dashboard — covered in detail starting on slide 7.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9AA3B2"/>
                </a:solidFill>
                <a:latin typeface="DM Sans"/>
              </a:rPr>
              <a:t>Carete · Care Coordination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400" b="1" i="0">
                <a:solidFill>
                  <a:srgbClr val="15213A"/>
                </a:solidFill>
                <a:latin typeface="DM Sans"/>
              </a:rPr>
              <a:t>The Dashboard, in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254203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59"/>
            <a:ext cx="2084832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4400" b="1" i="0">
                <a:solidFill>
                  <a:srgbClr val="15213A"/>
                </a:solidFill>
                <a:latin typeface="DM San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08959"/>
            <a:ext cx="2084832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C4656"/>
                </a:solidFill>
                <a:latin typeface="DM Sans"/>
              </a:rPr>
              <a:t>members tracked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7872" y="1874519"/>
            <a:ext cx="254203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6472" y="2194559"/>
            <a:ext cx="2084832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4400" b="1" i="0">
                <a:solidFill>
                  <a:srgbClr val="15213A"/>
                </a:solidFill>
                <a:latin typeface="DM San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3108959"/>
            <a:ext cx="2084832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C4656"/>
                </a:solidFill>
                <a:latin typeface="DM Sans"/>
              </a:rPr>
              <a:t>claims on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8504" y="1874519"/>
            <a:ext cx="254203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94559"/>
            <a:ext cx="2084832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000" b="1" i="0">
                <a:solidFill>
                  <a:srgbClr val="15213A"/>
                </a:solidFill>
                <a:latin typeface="DM Sans"/>
              </a:rPr>
              <a:t>$6,095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3108959"/>
            <a:ext cx="2084832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C4656"/>
                </a:solidFill>
                <a:latin typeface="DM Sans"/>
              </a:rPr>
              <a:t>billed across those claims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9136" y="1874519"/>
            <a:ext cx="254203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17736" y="2194559"/>
            <a:ext cx="2084832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600" b="1" i="0">
                <a:solidFill>
                  <a:srgbClr val="15213A"/>
                </a:solidFill>
                <a:latin typeface="DM Sans"/>
              </a:rPr>
              <a:t>6 of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7736" y="3108959"/>
            <a:ext cx="2084832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C4656"/>
                </a:solidFill>
                <a:latin typeface="DM Sans"/>
              </a:rPr>
              <a:t>claims paid — 1 denied, 1 under appeal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C4656"/>
                </a:solidFill>
                <a:latin typeface="DM Sans"/>
              </a:rPr>
              <a:t>Pulled directly from the dashboard’s own member and claims records — not mocked up for this deck.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9AA3B2"/>
                </a:solidFill>
                <a:latin typeface="DM Sans"/>
              </a:rPr>
              <a:t>Carete · Care Coordination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400" b="1" i="0">
                <a:solidFill>
                  <a:srgbClr val="15213A"/>
                </a:solidFill>
                <a:latin typeface="DM Sans"/>
              </a:rPr>
              <a:t>Built-In Compliance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2542032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148839"/>
            <a:ext cx="502920" cy="502920"/>
          </a:xfrm>
          <a:prstGeom prst="ellipse">
            <a:avLst/>
          </a:prstGeom>
          <a:solidFill>
            <a:srgbClr val="FD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39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5213A"/>
                </a:solidFill>
                <a:latin typeface="DM Sans"/>
              </a:rPr>
              <a:t>Documented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19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C4656"/>
                </a:solidFill>
                <a:latin typeface="DM Sans"/>
              </a:rPr>
              <a:t>A referral can’t close without a documented outcome — no silent closures.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1874519"/>
            <a:ext cx="2542032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22192" y="2148839"/>
            <a:ext cx="502920" cy="502920"/>
          </a:xfrm>
          <a:prstGeom prst="ellipse">
            <a:avLst/>
          </a:prstGeom>
          <a:solidFill>
            <a:srgbClr val="FD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2834639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5213A"/>
                </a:solidFill>
                <a:latin typeface="DM Sans"/>
              </a:rPr>
              <a:t>Prior Auth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3474719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C4656"/>
                </a:solidFill>
                <a:latin typeface="DM Sans"/>
              </a:rPr>
              <a:t>Scheduling flags any service that needs prior authorization before it’s booked.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4" y="1874519"/>
            <a:ext cx="2542032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92824" y="2148839"/>
            <a:ext cx="502920" cy="502920"/>
          </a:xfrm>
          <a:prstGeom prst="ellipse">
            <a:avLst/>
          </a:prstGeom>
          <a:solidFill>
            <a:srgbClr val="FD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2834639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5213A"/>
                </a:solidFill>
                <a:latin typeface="DM Sans"/>
              </a:rPr>
              <a:t>Coded Claims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3474719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C4656"/>
                </a:solidFill>
                <a:latin typeface="DM Sans"/>
              </a:rPr>
              <a:t>Every claim carries its HCPCS code and modifiers — e.g. G9008-U1 for ECM clinical care management.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1874519"/>
            <a:ext cx="2542032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63456" y="2148839"/>
            <a:ext cx="502920" cy="502920"/>
          </a:xfrm>
          <a:prstGeom prst="ellipse">
            <a:avLst/>
          </a:prstGeom>
          <a:solidFill>
            <a:srgbClr val="FD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17736" y="2834639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5213A"/>
                </a:solidFill>
                <a:latin typeface="DM Sans"/>
              </a:rPr>
              <a:t>Tracked Appeals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736" y="3474719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C4656"/>
                </a:solidFill>
                <a:latin typeface="DM Sans"/>
              </a:rPr>
              <a:t>Denied claims route to a tracked appeal — e.g. CLM-2026-1246, appealed after resupplying documentation.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9AA3B2"/>
                </a:solidFill>
                <a:latin typeface="DM Sans"/>
              </a:rPr>
              <a:t>Carete · Care Coordination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5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F6F8"/>
                </a:solidFill>
                <a:latin typeface="DM Sans"/>
              </a:rPr>
              <a:t>Refer, Route, Verify, Deliver, Claim, and Close all happen inside one referral record.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931920"/>
            <a:ext cx="6400800" cy="1828800"/>
          </a:xfrm>
          <a:prstGeom prst="roundRect">
            <a:avLst>
              <a:gd name="adj" fmla="val 10000"/>
            </a:avLst>
          </a:prstGeom>
          <a:solidFill>
            <a:srgbClr val="15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420624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 spc="200">
                <a:solidFill>
                  <a:srgbClr val="F2A79E"/>
                </a:solidFill>
                <a:latin typeface="DM Sans"/>
              </a:rP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572000"/>
            <a:ext cx="566928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D7DEE8"/>
                </a:solidFill>
                <a:latin typeface="DM Sans"/>
              </a:rPr>
              <a:t>The six stages after Refer aren’t six separate systems — they’re one referral record moving through its own five statuses in the dashboard, which is what the rest of this walkthrough covers.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400" b="1" i="0">
                <a:solidFill>
                  <a:srgbClr val="15213A"/>
                </a:solidFill>
                <a:latin typeface="DM Sans"/>
              </a:rPr>
              <a:t>The Referral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0595" y="1920240"/>
            <a:ext cx="1783080" cy="1188720"/>
          </a:xfrm>
          <a:prstGeom prst="roundRect">
            <a:avLst>
              <a:gd name="adj" fmla="val 14000"/>
            </a:avLst>
          </a:prstGeom>
          <a:solidFill>
            <a:srgbClr val="FDF1DC"/>
          </a:solidFill>
          <a:ln w="12700">
            <a:solidFill>
              <a:srgbClr val="F3D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6315" y="2203704"/>
            <a:ext cx="169164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92400E"/>
                </a:solidFill>
                <a:latin typeface="DM Sans"/>
              </a:rPr>
              <a:t>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6315" y="2514600"/>
            <a:ext cx="169164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92400E"/>
                </a:solidFill>
                <a:latin typeface="DM Sans"/>
              </a:rPr>
              <a:t>Decision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3403" y="2432304"/>
            <a:ext cx="274320" cy="164592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7451" y="1920240"/>
            <a:ext cx="1783080" cy="1188720"/>
          </a:xfrm>
          <a:prstGeom prst="roundRect">
            <a:avLst>
              <a:gd name="adj" fmla="val 14000"/>
            </a:avLst>
          </a:prstGeom>
          <a:solidFill>
            <a:srgbClr val="E1F3F3"/>
          </a:solidFill>
          <a:ln w="12700">
            <a:solidFill>
              <a:srgbClr val="BF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3171" y="2359152"/>
            <a:ext cx="169164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0B6B73"/>
                </a:solidFill>
                <a:latin typeface="DM Sans"/>
              </a:rPr>
              <a:t>Accepted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20259" y="2432304"/>
            <a:ext cx="274320" cy="164592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04307" y="1920240"/>
            <a:ext cx="1783080" cy="1188720"/>
          </a:xfrm>
          <a:prstGeom prst="roundRect">
            <a:avLst>
              <a:gd name="adj" fmla="val 14000"/>
            </a:avLst>
          </a:prstGeom>
          <a:solidFill>
            <a:srgbClr val="FBE7E3"/>
          </a:solidFill>
          <a:ln w="12700">
            <a:solidFill>
              <a:srgbClr val="F3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0027" y="2359152"/>
            <a:ext cx="169164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B83D30"/>
                </a:solidFill>
                <a:latin typeface="DM Sans"/>
              </a:rPr>
              <a:t>Scheduled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97115" y="2432304"/>
            <a:ext cx="274320" cy="164592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81163" y="1920240"/>
            <a:ext cx="1783080" cy="1188720"/>
          </a:xfrm>
          <a:prstGeom prst="roundRect">
            <a:avLst>
              <a:gd name="adj" fmla="val 14000"/>
            </a:avLst>
          </a:prstGeom>
          <a:solidFill>
            <a:srgbClr val="EEF0F2"/>
          </a:solidFill>
          <a:ln w="12700">
            <a:solidFill>
              <a:srgbClr val="DA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6883" y="2359152"/>
            <a:ext cx="169164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4B5563"/>
                </a:solidFill>
                <a:latin typeface="DM Sans"/>
              </a:rPr>
              <a:t>Claimed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73971" y="2432304"/>
            <a:ext cx="274320" cy="164592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58019" y="1920240"/>
            <a:ext cx="1783080" cy="1188720"/>
          </a:xfrm>
          <a:prstGeom prst="roundRect">
            <a:avLst>
              <a:gd name="adj" fmla="val 14000"/>
            </a:avLst>
          </a:prstGeom>
          <a:solidFill>
            <a:srgbClr val="E3F3E7"/>
          </a:solidFill>
          <a:ln w="12700">
            <a:solidFill>
              <a:srgbClr val="C4E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03739" y="2359152"/>
            <a:ext cx="169164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F7A3D"/>
                </a:solidFill>
                <a:latin typeface="DM Sans"/>
              </a:rPr>
              <a:t>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290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C4656"/>
                </a:solidFill>
                <a:latin typeface="DM Sans"/>
              </a:rPr>
              <a:t>The next three slides follow one real example — Maria Garcia’s ECM referral — through each handoff, including how Claimed becomes Closed automatically.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9AA3B2"/>
                </a:solidFill>
                <a:latin typeface="DM Sans"/>
              </a:rPr>
              <a:t>Carete · Care Coordination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15213A"/>
                </a:solidFill>
                <a:latin typeface="DM Sans"/>
              </a:rPr>
              <a:t>Pending Decision → Accepted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4480560" cy="2286000"/>
          </a:xfrm>
          <a:prstGeom prst="roundRect">
            <a:avLst>
              <a:gd name="adj" fmla="val 12000"/>
            </a:avLst>
          </a:prstGeom>
          <a:solidFill>
            <a:srgbClr val="FDF1DC"/>
          </a:solidFill>
          <a:ln w="12700">
            <a:solidFill>
              <a:srgbClr val="F3D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92400E"/>
                </a:solidFill>
                <a:latin typeface="DM Sans"/>
              </a:rPr>
              <a:t>Pending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384048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2400E"/>
                </a:solidFill>
                <a:latin typeface="DM Sans"/>
              </a:rPr>
              <a:t>• Consumer is shown a shortlist of providers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2400E"/>
                </a:solidFill>
                <a:latin typeface="DM Sans"/>
              </a:rPr>
              <a:t>• Every option presented is recorded, not just the final pick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2400E"/>
                </a:solidFill>
                <a:latin typeface="DM Sans"/>
              </a:rPr>
              <a:t>• Declining every option documents an outcome and closes the referral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94960" y="2688336"/>
            <a:ext cx="457200" cy="292608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1691640"/>
            <a:ext cx="4480560" cy="2286000"/>
          </a:xfrm>
          <a:prstGeom prst="roundRect">
            <a:avLst>
              <a:gd name="adj" fmla="val 12000"/>
            </a:avLst>
          </a:prstGeom>
          <a:solidFill>
            <a:srgbClr val="E1F3F3"/>
          </a:solidFill>
          <a:ln w="12700">
            <a:solidFill>
              <a:srgbClr val="BF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0B6B73"/>
                </a:solidFill>
                <a:latin typeface="DM Sans"/>
              </a:rPr>
              <a:t>Accepted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468880"/>
            <a:ext cx="384048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B6B73"/>
                </a:solidFill>
                <a:latin typeface="DM Sans"/>
              </a:rPr>
              <a:t>• The consumer’s choice is recorded with today’s date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B6B73"/>
                </a:solidFill>
                <a:latin typeface="DM Sans"/>
              </a:rPr>
              <a:t>• The referral is ready to move to scheduling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B6B73"/>
                </a:solidFill>
                <a:latin typeface="DM Sans"/>
              </a:rPr>
              <a:t>• Nothing is billed yet — no service has been delivered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160520"/>
            <a:ext cx="10515600" cy="1005840"/>
          </a:xfrm>
          <a:prstGeom prst="roundRect">
            <a:avLst>
              <a:gd name="adj" fmla="val 14000"/>
            </a:avLst>
          </a:prstGeom>
          <a:solidFill>
            <a:srgbClr val="FFF6F0"/>
          </a:solidFill>
          <a:ln w="12700">
            <a:solidFill>
              <a:srgbClr val="F3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25112"/>
            <a:ext cx="9966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 spc="100">
                <a:solidFill>
                  <a:srgbClr val="B83D30"/>
                </a:solidFill>
                <a:latin typeface="DM Sans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599432"/>
            <a:ext cx="99669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3A33"/>
                </a:solidFill>
                <a:latin typeface="DM Sans"/>
              </a:rPr>
              <a:t>Maria Garcia is referred for ECM — Care Management. Her shortlist: Dr. Amara Okafor (Clinical Care Management) and Marcus Webb, LCSW (Outreach &amp; Non-Clinical). She chooses Dr. Okafor.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49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C4656"/>
                </a:solidFill>
                <a:latin typeface="DM Sans"/>
              </a:rPr>
              <a:t>Nothing is claimed here — Accepted only means the consumer picked a provider.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9AA3B2"/>
                </a:solidFill>
                <a:latin typeface="DM Sans"/>
              </a:rPr>
              <a:t>Carete · Care Coordination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15213A"/>
                </a:solidFill>
                <a:latin typeface="DM Sans"/>
              </a:rPr>
              <a:t>Scheduled → Claimed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4480560" cy="2286000"/>
          </a:xfrm>
          <a:prstGeom prst="roundRect">
            <a:avLst>
              <a:gd name="adj" fmla="val 12000"/>
            </a:avLst>
          </a:prstGeom>
          <a:solidFill>
            <a:srgbClr val="FBE7E3"/>
          </a:solidFill>
          <a:ln w="12700">
            <a:solidFill>
              <a:srgbClr val="F3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B83D30"/>
                </a:solidFill>
                <a:latin typeface="DM Sans"/>
              </a:rPr>
              <a:t>Scheduled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384048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3D30"/>
                </a:solidFill>
                <a:latin typeface="DM Sans"/>
              </a:rPr>
              <a:t>• Opens the same Schedule Appointment flow used everywhere else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3D30"/>
                </a:solidFill>
                <a:latin typeface="DM Sans"/>
              </a:rPr>
              <a:t>• Provider and service are already pre-filled from the referral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3D30"/>
                </a:solidFill>
                <a:latin typeface="DM Sans"/>
              </a:rPr>
              <a:t>• Prior authorization status is checked automatically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94960" y="2688336"/>
            <a:ext cx="457200" cy="292608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1691640"/>
            <a:ext cx="4480560" cy="2286000"/>
          </a:xfrm>
          <a:prstGeom prst="roundRect">
            <a:avLst>
              <a:gd name="adj" fmla="val 12000"/>
            </a:avLst>
          </a:prstGeom>
          <a:solidFill>
            <a:srgbClr val="EEF0F2"/>
          </a:solidFill>
          <a:ln w="12700">
            <a:solidFill>
              <a:srgbClr val="DA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4B5563"/>
                </a:solidFill>
                <a:latin typeface="DM Sans"/>
              </a:rPr>
              <a:t>Claimed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468880"/>
            <a:ext cx="384048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B5563"/>
                </a:solidFill>
                <a:latin typeface="DM Sans"/>
              </a:rPr>
              <a:t>• “Create Claim” opens the same Add Service form as any other service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B5563"/>
                </a:solidFill>
                <a:latin typeface="DM Sans"/>
              </a:rPr>
              <a:t>• Service, HCPCS code, and rate are pre-filled from the referral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B5563"/>
                </a:solidFill>
                <a:latin typeface="DM Sans"/>
              </a:rPr>
              <a:t>• The referral now waits on that one claim’s payment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160520"/>
            <a:ext cx="10515600" cy="1005840"/>
          </a:xfrm>
          <a:prstGeom prst="roundRect">
            <a:avLst>
              <a:gd name="adj" fmla="val 14000"/>
            </a:avLst>
          </a:prstGeom>
          <a:solidFill>
            <a:srgbClr val="FFF6F0"/>
          </a:solidFill>
          <a:ln w="12700">
            <a:solidFill>
              <a:srgbClr val="F3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25112"/>
            <a:ext cx="9966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 spc="100">
                <a:solidFill>
                  <a:srgbClr val="B83D30"/>
                </a:solidFill>
                <a:latin typeface="DM Sans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599432"/>
            <a:ext cx="99669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3A33"/>
                </a:solidFill>
                <a:latin typeface="DM Sans"/>
              </a:rPr>
              <a:t>Scheduling pre-fills Dr. Amara Okafor and ECM — Care Management. The claim that follows pre-fills HCPCS G9008-U1 at $210 per encounter — two encounters, $420 total.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49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C4656"/>
                </a:solidFill>
                <a:latin typeface="DM Sans"/>
              </a:rPr>
              <a:t>A claim exists the moment the service is logged — it doesn’t need to be paid yet.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9AA3B2"/>
                </a:solidFill>
                <a:latin typeface="DM Sans"/>
              </a:rPr>
              <a:t>Carete · Care Coordination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15213A"/>
                </a:solidFill>
                <a:latin typeface="DM Sans"/>
              </a:rPr>
              <a:t>Claimed → Closed, Automatically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98267" y="1691640"/>
            <a:ext cx="3291840" cy="1188720"/>
          </a:xfrm>
          <a:prstGeom prst="roundRect">
            <a:avLst>
              <a:gd name="adj" fmla="val 14000"/>
            </a:avLst>
          </a:prstGeom>
          <a:solidFill>
            <a:srgbClr val="E3F3E7"/>
          </a:solidFill>
          <a:ln w="12700">
            <a:solidFill>
              <a:srgbClr val="C4E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98267" y="185623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 spc="100">
                <a:solidFill>
                  <a:srgbClr val="2F8F57"/>
                </a:solidFill>
                <a:latin typeface="DM Sans"/>
              </a:rPr>
              <a:t>CLAIMS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3987" y="2295144"/>
            <a:ext cx="320040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F7A3D"/>
                </a:solidFill>
                <a:latin typeface="DM Sans"/>
              </a:rPr>
              <a:t>Mark as Paid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0107" y="18288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0" i="1">
                <a:solidFill>
                  <a:srgbClr val="6B7280"/>
                </a:solidFill>
                <a:latin typeface="DM Sans"/>
              </a:rPr>
              <a:t>triggers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35827" y="2212848"/>
            <a:ext cx="320040" cy="14630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1587" y="1691640"/>
            <a:ext cx="3291840" cy="1188720"/>
          </a:xfrm>
          <a:prstGeom prst="roundRect">
            <a:avLst>
              <a:gd name="adj" fmla="val 14000"/>
            </a:avLst>
          </a:prstGeom>
          <a:solidFill>
            <a:srgbClr val="E3F3E7"/>
          </a:solidFill>
          <a:ln w="12700">
            <a:solidFill>
              <a:srgbClr val="C4E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1587" y="185623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 spc="100">
                <a:solidFill>
                  <a:srgbClr val="2F8F57"/>
                </a:solidFill>
                <a:latin typeface="DM Sans"/>
              </a:rPr>
              <a:t>REFERRAL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7307" y="2295144"/>
            <a:ext cx="320040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1F7A3D"/>
                </a:solidFill>
                <a:latin typeface="DM Sans"/>
              </a:rPr>
              <a:t>Closed — Completed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46120"/>
            <a:ext cx="3401568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29000"/>
            <a:ext cx="285292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C4656"/>
                </a:solidFill>
                <a:latin typeface="DM Sans"/>
              </a:rPr>
              <a:t>No extra step — marking the claim paid is the trigger.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3246120"/>
            <a:ext cx="3401568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3429000"/>
            <a:ext cx="285292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C4656"/>
                </a:solidFill>
                <a:latin typeface="DM Sans"/>
              </a:rPr>
              <a:t>The outcome fills in automatically as “Completed.”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6" y="3246120"/>
            <a:ext cx="3401568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3429000"/>
            <a:ext cx="285292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C4656"/>
                </a:solidFill>
                <a:latin typeface="DM Sans"/>
              </a:rPr>
              <a:t>Referrals can still be closed manually — for a no-show, before any claim exists.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17720"/>
            <a:ext cx="10515600" cy="1051560"/>
          </a:xfrm>
          <a:prstGeom prst="roundRect">
            <a:avLst>
              <a:gd name="adj" fmla="val 14000"/>
            </a:avLst>
          </a:prstGeom>
          <a:solidFill>
            <a:srgbClr val="FFF6F0"/>
          </a:solidFill>
          <a:ln w="12700">
            <a:solidFill>
              <a:srgbClr val="F3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782312"/>
            <a:ext cx="9966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 spc="100">
                <a:solidFill>
                  <a:srgbClr val="B83D30"/>
                </a:solidFill>
                <a:latin typeface="DM Sans"/>
              </a:rPr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56632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3A33"/>
                </a:solidFill>
                <a:latin typeface="DM Sans"/>
              </a:rPr>
              <a:t>Claim CLM-2026-1241 — Maria Garcia, ECM Care Management, $420 — gets marked Paid. Her referral closes itself the same moment, outcome: “Completed.”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9AA3B2"/>
                </a:solidFill>
                <a:latin typeface="DM Sans"/>
              </a:rPr>
              <a:t>Carete · Care Coordination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400" b="1" i="0" spc="200">
                <a:solidFill>
                  <a:srgbClr val="E0584B"/>
                </a:solidFill>
                <a:latin typeface="DM Sans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06040"/>
            <a:ext cx="9994392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15213A"/>
                </a:solidFill>
                <a:latin typeface="DM Sans"/>
              </a:rPr>
              <a:t>Every closed referral has a paid claim behind it — or a documented reason why it doesn’t.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0"/>
            <a:ext cx="889711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3C4656"/>
                </a:solidFill>
                <a:latin typeface="DM Sans"/>
              </a:rPr>
              <a:t>That’s the audit trail a health plan — or a surveyor — actually wants to see.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 spc="300">
                <a:solidFill>
                  <a:srgbClr val="E0584B"/>
                </a:solidFill>
                <a:latin typeface="DM Sans"/>
              </a:rPr>
              <a:t>CARETE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200" b="1" i="0">
                <a:solidFill>
                  <a:srgbClr val="F5F6F8"/>
                </a:solidFill>
                <a:latin typeface="DM Sans"/>
              </a:rPr>
              <a:t>Care Without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D7DEE8"/>
                </a:solidFill>
                <a:latin typeface="DM Sans"/>
              </a:rP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8793A4"/>
                </a:solidFill>
                <a:latin typeface="DM Sans"/>
              </a:rPr>
              <a:t>Carete · Care Coordination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